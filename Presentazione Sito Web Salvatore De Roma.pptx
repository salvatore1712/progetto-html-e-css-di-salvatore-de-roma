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e e data"/>
          <p:cNvSpPr txBox="1"/>
          <p:nvPr>
            <p:ph type="body" sz="quarter" idx="21" hasCustomPrompt="1"/>
          </p:nvPr>
        </p:nvSpPr>
        <p:spPr>
          <a:xfrm>
            <a:off x="640714" y="7544460"/>
            <a:ext cx="11717870" cy="339723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pPr/>
            <a:r>
              <a:t>Autore e data</a:t>
            </a:r>
          </a:p>
        </p:txBody>
      </p:sp>
      <p:sp>
        <p:nvSpPr>
          <p:cNvPr id="12" name="Titolo presentazion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Titolo presentazione</a:t>
            </a:r>
          </a:p>
        </p:txBody>
      </p:sp>
      <p:sp>
        <p:nvSpPr>
          <p:cNvPr id="13" name="Corpo livello uno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 e lime"/>
          <p:cNvSpPr/>
          <p:nvPr>
            <p:ph type="pic" idx="21"/>
          </p:nvPr>
        </p:nvSpPr>
        <p:spPr>
          <a:xfrm>
            <a:off x="-616374" y="528319"/>
            <a:ext cx="14264642" cy="85434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olo presentazione"/>
          <p:cNvSpPr txBox="1"/>
          <p:nvPr>
            <p:ph type="title" hasCustomPrompt="1"/>
          </p:nvPr>
        </p:nvSpPr>
        <p:spPr>
          <a:xfrm>
            <a:off x="643466" y="5019040"/>
            <a:ext cx="11717868" cy="2479041"/>
          </a:xfrm>
          <a:prstGeom prst="rect">
            <a:avLst/>
          </a:prstGeom>
        </p:spPr>
        <p:txBody>
          <a:bodyPr/>
          <a:lstStyle/>
          <a:p>
            <a:pPr/>
            <a:r>
              <a:t>Titolo presentazione</a:t>
            </a:r>
          </a:p>
        </p:txBody>
      </p:sp>
      <p:sp>
        <p:nvSpPr>
          <p:cNvPr id="23" name="Autore e data"/>
          <p:cNvSpPr txBox="1"/>
          <p:nvPr>
            <p:ph type="body" sz="quarter" idx="22" hasCustomPrompt="1"/>
          </p:nvPr>
        </p:nvSpPr>
        <p:spPr>
          <a:xfrm>
            <a:off x="644101" y="1809140"/>
            <a:ext cx="11716599" cy="339722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pPr/>
            <a:r>
              <a:t>Autore e data</a:t>
            </a:r>
          </a:p>
        </p:txBody>
      </p:sp>
      <p:sp>
        <p:nvSpPr>
          <p:cNvPr id="24" name="Corpo livello uno…"/>
          <p:cNvSpPr txBox="1"/>
          <p:nvPr>
            <p:ph type="body" sz="quarter" idx="1" hasCustomPrompt="1"/>
          </p:nvPr>
        </p:nvSpPr>
        <p:spPr>
          <a:xfrm>
            <a:off x="643466" y="7411152"/>
            <a:ext cx="11717868" cy="595708"/>
          </a:xfrm>
          <a:prstGeom prst="rect">
            <a:avLst/>
          </a:prstGeom>
        </p:spPr>
        <p:txBody>
          <a:bodyPr/>
          <a:lstStyle/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iotola con frittelle al salmone, insalata e hummus"/>
          <p:cNvSpPr/>
          <p:nvPr>
            <p:ph type="pic" sz="half" idx="21"/>
          </p:nvPr>
        </p:nvSpPr>
        <p:spPr>
          <a:xfrm>
            <a:off x="5852159" y="1110826"/>
            <a:ext cx="6477248" cy="75387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olo"/>
          <p:cNvSpPr txBox="1"/>
          <p:nvPr>
            <p:ph type="title" hasCustomPrompt="1"/>
          </p:nvPr>
        </p:nvSpPr>
        <p:spPr>
          <a:xfrm>
            <a:off x="643466" y="1896533"/>
            <a:ext cx="5215468" cy="3137213"/>
          </a:xfrm>
          <a:prstGeom prst="rect">
            <a:avLst/>
          </a:prstGeom>
        </p:spPr>
        <p:txBody>
          <a:bodyPr/>
          <a:lstStyle>
            <a:lvl1pPr>
              <a:defRPr spc="-119" sz="6000"/>
            </a:lvl1pPr>
          </a:lstStyle>
          <a:p>
            <a:pPr/>
            <a:r>
              <a:t>Titolo</a:t>
            </a:r>
          </a:p>
        </p:txBody>
      </p:sp>
      <p:sp>
        <p:nvSpPr>
          <p:cNvPr id="34" name="Corpo livello uno…"/>
          <p:cNvSpPr txBox="1"/>
          <p:nvPr>
            <p:ph type="body" sz="quarter" idx="1" hasCustomPrompt="1"/>
          </p:nvPr>
        </p:nvSpPr>
        <p:spPr>
          <a:xfrm>
            <a:off x="643466" y="4984841"/>
            <a:ext cx="5215468" cy="2872226"/>
          </a:xfrm>
          <a:prstGeom prst="rect">
            <a:avLst/>
          </a:prstGeom>
        </p:spPr>
        <p:txBody>
          <a:bodyPr/>
          <a:lstStyle/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ero diapositiva"/>
          <p:cNvSpPr txBox="1"/>
          <p:nvPr>
            <p:ph type="sldNum" sz="quarter" idx="2"/>
          </p:nvPr>
        </p:nvSpPr>
        <p:spPr>
          <a:xfrm>
            <a:off x="6380889" y="8170057"/>
            <a:ext cx="236357" cy="22772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d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/>
          <p:nvPr>
            <p:ph type="title" hasCustomPrompt="1"/>
          </p:nvPr>
        </p:nvSpPr>
        <p:spPr>
          <a:xfrm>
            <a:off x="643466" y="1794933"/>
            <a:ext cx="11717868" cy="764354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Titolo</a:t>
            </a:r>
          </a:p>
        </p:txBody>
      </p:sp>
      <p:sp>
        <p:nvSpPr>
          <p:cNvPr id="43" name="Sottotitolo diapositiva"/>
          <p:cNvSpPr txBox="1"/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44" name="Corpo livello uno…"/>
          <p:cNvSpPr txBox="1"/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/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 numCol="2" spcCol="585893"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ttotitolo diapositiva"/>
          <p:cNvSpPr txBox="1"/>
          <p:nvPr>
            <p:ph type="body" sz="quarter" idx="21" hasCustomPrompt="1"/>
          </p:nvPr>
        </p:nvSpPr>
        <p:spPr>
          <a:xfrm>
            <a:off x="643466" y="2484779"/>
            <a:ext cx="52154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61" name="Corpo livello uno…"/>
          <p:cNvSpPr txBox="1"/>
          <p:nvPr>
            <p:ph type="body" sz="quarter" idx="1" hasCustomPrompt="1"/>
          </p:nvPr>
        </p:nvSpPr>
        <p:spPr>
          <a:xfrm>
            <a:off x="643466" y="3485069"/>
            <a:ext cx="5215468" cy="4403536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Pappardelle con burro al prezzemolo, nocciole tostate e scaglie di parmigiano"/>
          <p:cNvSpPr/>
          <p:nvPr>
            <p:ph type="pic" sz="half" idx="22"/>
          </p:nvPr>
        </p:nvSpPr>
        <p:spPr>
          <a:xfrm>
            <a:off x="6502400" y="1001991"/>
            <a:ext cx="5822333" cy="77631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itolo"/>
          <p:cNvSpPr txBox="1"/>
          <p:nvPr>
            <p:ph type="title" hasCustomPrompt="1"/>
          </p:nvPr>
        </p:nvSpPr>
        <p:spPr>
          <a:xfrm>
            <a:off x="643466" y="1794933"/>
            <a:ext cx="5215468" cy="76538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Titolo</a:t>
            </a:r>
          </a:p>
        </p:txBody>
      </p:sp>
      <p:sp>
        <p:nvSpPr>
          <p:cNvPr id="6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diretta picc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ottotitolo diapositiva"/>
          <p:cNvSpPr txBox="1"/>
          <p:nvPr>
            <p:ph type="body" sz="quarter" idx="21" hasCustomPrompt="1"/>
          </p:nvPr>
        </p:nvSpPr>
        <p:spPr>
          <a:xfrm>
            <a:off x="643466" y="2484779"/>
            <a:ext cx="52154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72" name="Corpo livello uno…"/>
          <p:cNvSpPr txBox="1"/>
          <p:nvPr>
            <p:ph type="body" sz="quarter" idx="1" hasCustomPrompt="1"/>
          </p:nvPr>
        </p:nvSpPr>
        <p:spPr>
          <a:xfrm>
            <a:off x="643466" y="3485069"/>
            <a:ext cx="5215468" cy="4403536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itolo"/>
          <p:cNvSpPr txBox="1"/>
          <p:nvPr>
            <p:ph type="title" hasCustomPrompt="1"/>
          </p:nvPr>
        </p:nvSpPr>
        <p:spPr>
          <a:xfrm>
            <a:off x="643466" y="1794933"/>
            <a:ext cx="5215468" cy="76538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Titolo</a:t>
            </a:r>
          </a:p>
        </p:txBody>
      </p:sp>
      <p:sp>
        <p:nvSpPr>
          <p:cNvPr id="7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dirett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ottotitolo diapositiva"/>
          <p:cNvSpPr txBox="1"/>
          <p:nvPr>
            <p:ph type="body" sz="quarter" idx="21" hasCustomPrompt="1"/>
          </p:nvPr>
        </p:nvSpPr>
        <p:spPr>
          <a:xfrm>
            <a:off x="643466" y="2484779"/>
            <a:ext cx="52154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82" name="Corpo livello uno…"/>
          <p:cNvSpPr txBox="1"/>
          <p:nvPr>
            <p:ph type="body" sz="quarter" idx="1" hasCustomPrompt="1"/>
          </p:nvPr>
        </p:nvSpPr>
        <p:spPr>
          <a:xfrm>
            <a:off x="643466" y="3485069"/>
            <a:ext cx="5215468" cy="4403536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itolo"/>
          <p:cNvSpPr txBox="1"/>
          <p:nvPr>
            <p:ph type="title" hasCustomPrompt="1"/>
          </p:nvPr>
        </p:nvSpPr>
        <p:spPr>
          <a:xfrm>
            <a:off x="643466" y="1794933"/>
            <a:ext cx="5215468" cy="76538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Titolo</a:t>
            </a:r>
          </a:p>
        </p:txBody>
      </p:sp>
      <p:sp>
        <p:nvSpPr>
          <p:cNvPr id="8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olo sezione"/>
          <p:cNvSpPr txBox="1"/>
          <p:nvPr>
            <p:ph type="title" hasCustomPrompt="1"/>
          </p:nvPr>
        </p:nvSpPr>
        <p:spPr>
          <a:xfrm>
            <a:off x="643464" y="3637279"/>
            <a:ext cx="11717870" cy="2479042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Titolo sezione</a:t>
            </a:r>
          </a:p>
        </p:txBody>
      </p:sp>
      <p:sp>
        <p:nvSpPr>
          <p:cNvPr id="92" name="Numero diapositiva"/>
          <p:cNvSpPr txBox="1"/>
          <p:nvPr>
            <p:ph type="sldNum" sz="quarter" idx="2"/>
          </p:nvPr>
        </p:nvSpPr>
        <p:spPr>
          <a:xfrm>
            <a:off x="6380889" y="8170057"/>
            <a:ext cx="236357" cy="22772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olo"/>
          <p:cNvSpPr txBox="1"/>
          <p:nvPr>
            <p:ph type="title" hasCustomPrompt="1"/>
          </p:nvPr>
        </p:nvSpPr>
        <p:spPr>
          <a:xfrm>
            <a:off x="643466" y="1794933"/>
            <a:ext cx="11717868" cy="76530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Titolo</a:t>
            </a:r>
          </a:p>
        </p:txBody>
      </p:sp>
      <p:sp>
        <p:nvSpPr>
          <p:cNvPr id="100" name="Sottotitolo diapositiva"/>
          <p:cNvSpPr txBox="1"/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10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programma"/>
          <p:cNvSpPr txBox="1"/>
          <p:nvPr>
            <p:ph type="title" hasCustomPrompt="1"/>
          </p:nvPr>
        </p:nvSpPr>
        <p:spPr>
          <a:xfrm>
            <a:off x="643466" y="1794933"/>
            <a:ext cx="11717868" cy="76538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Titolo programma</a:t>
            </a:r>
          </a:p>
        </p:txBody>
      </p:sp>
      <p:sp>
        <p:nvSpPr>
          <p:cNvPr id="109" name="Sottotitolo programma"/>
          <p:cNvSpPr txBox="1"/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Sottotitolo programma</a:t>
            </a:r>
          </a:p>
        </p:txBody>
      </p:sp>
      <p:sp>
        <p:nvSpPr>
          <p:cNvPr id="110" name="Corpo livello uno…"/>
          <p:cNvSpPr txBox="1"/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8"/>
            </a:lvl1pPr>
            <a:lvl2pPr>
              <a:spcBef>
                <a:spcPts val="1200"/>
              </a:spcBef>
              <a:defRPr b="0" spc="-38"/>
            </a:lvl2pPr>
            <a:lvl3pPr>
              <a:spcBef>
                <a:spcPts val="1200"/>
              </a:spcBef>
              <a:defRPr b="0" spc="-38"/>
            </a:lvl3pPr>
            <a:lvl4pPr>
              <a:spcBef>
                <a:spcPts val="1200"/>
              </a:spcBef>
              <a:defRPr b="0" spc="-38"/>
            </a:lvl4pPr>
            <a:lvl5pPr>
              <a:spcBef>
                <a:spcPts val="1200"/>
              </a:spcBef>
              <a:defRPr b="0" spc="-38"/>
            </a:lvl5pPr>
          </a:lstStyle>
          <a:p>
            <a:pPr/>
            <a:r>
              <a:t>Argomenti del programma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orpo livello uno…"/>
          <p:cNvSpPr txBox="1"/>
          <p:nvPr>
            <p:ph type="body" sz="quarter" idx="1" hasCustomPrompt="1"/>
          </p:nvPr>
        </p:nvSpPr>
        <p:spPr>
          <a:xfrm>
            <a:off x="643466" y="3843649"/>
            <a:ext cx="11717868" cy="2066302"/>
          </a:xfrm>
          <a:prstGeom prst="rect">
            <a:avLst/>
          </a:prstGeom>
        </p:spPr>
        <p:txBody>
          <a:bodyPr anchor="ctr"/>
          <a:lstStyle>
            <a:lvl1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Dichiarazione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orpo livello uno…"/>
          <p:cNvSpPr txBox="1"/>
          <p:nvPr>
            <p:ph type="body" sz="half" idx="1" hasCustomPrompt="1"/>
          </p:nvPr>
        </p:nvSpPr>
        <p:spPr>
          <a:xfrm>
            <a:off x="643466" y="1793027"/>
            <a:ext cx="11717868" cy="3862179"/>
          </a:xfrm>
          <a:prstGeom prst="rect">
            <a:avLst/>
          </a:prstGeom>
        </p:spPr>
        <p:txBody>
          <a:bodyPr anchor="b"/>
          <a:lstStyle>
            <a:lvl1pPr algn="ctr" defTabSz="1733930">
              <a:lnSpc>
                <a:spcPct val="80000"/>
              </a:lnSpc>
              <a:defRPr spc="-176" sz="17600"/>
            </a:lvl1pPr>
            <a:lvl2pPr algn="ctr" defTabSz="1733930">
              <a:lnSpc>
                <a:spcPct val="80000"/>
              </a:lnSpc>
              <a:defRPr spc="-176" sz="17600"/>
            </a:lvl2pPr>
            <a:lvl3pPr algn="ctr" defTabSz="1733930">
              <a:lnSpc>
                <a:spcPct val="80000"/>
              </a:lnSpc>
              <a:defRPr spc="-176" sz="17600"/>
            </a:lvl3pPr>
            <a:lvl4pPr algn="ctr" defTabSz="1733930">
              <a:lnSpc>
                <a:spcPct val="80000"/>
              </a:lnSpc>
              <a:defRPr spc="-176" sz="17600"/>
            </a:lvl4pPr>
            <a:lvl5pPr algn="ctr" defTabSz="1733930">
              <a:lnSpc>
                <a:spcPct val="80000"/>
              </a:lnSpc>
              <a:defRPr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Dettagli informazione"/>
          <p:cNvSpPr txBox="1"/>
          <p:nvPr>
            <p:ph type="body" sz="quarter" idx="21" hasCustomPrompt="1"/>
          </p:nvPr>
        </p:nvSpPr>
        <p:spPr>
          <a:xfrm>
            <a:off x="643466" y="5625696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algn="ctr" defTabSz="457877">
              <a:defRPr sz="2964"/>
            </a:lvl1pPr>
          </a:lstStyle>
          <a:p>
            <a:pPr/>
            <a:r>
              <a:t>Dettagli informazione</a:t>
            </a:r>
          </a:p>
        </p:txBody>
      </p:sp>
      <p:sp>
        <p:nvSpPr>
          <p:cNvPr id="128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zione"/>
          <p:cNvSpPr txBox="1"/>
          <p:nvPr>
            <p:ph type="body" sz="quarter" idx="21" hasCustomPrompt="1"/>
          </p:nvPr>
        </p:nvSpPr>
        <p:spPr>
          <a:xfrm>
            <a:off x="1296013" y="6912775"/>
            <a:ext cx="10773362" cy="339723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pPr/>
            <a:r>
              <a:t>Attribuzione</a:t>
            </a:r>
          </a:p>
        </p:txBody>
      </p:sp>
      <p:sp>
        <p:nvSpPr>
          <p:cNvPr id="136" name="Corpo livello uno…"/>
          <p:cNvSpPr txBox="1"/>
          <p:nvPr>
            <p:ph type="body" sz="quarter" idx="1" hasCustomPrompt="1"/>
          </p:nvPr>
        </p:nvSpPr>
        <p:spPr>
          <a:xfrm>
            <a:off x="935425" y="3853792"/>
            <a:ext cx="11133950" cy="2046016"/>
          </a:xfrm>
          <a:prstGeom prst="rect">
            <a:avLst/>
          </a:prstGeom>
        </p:spPr>
        <p:txBody>
          <a:bodyPr/>
          <a:lstStyle>
            <a:lvl1pPr marL="454345" indent="-334151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4345" indent="1230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4345" indent="5802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4345" indent="10374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4345" indent="14946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“Citazione degna di nota”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iotola di insalata con riso saltato, uova sode e bacchette"/>
          <p:cNvSpPr/>
          <p:nvPr>
            <p:ph type="pic" sz="quarter" idx="21"/>
          </p:nvPr>
        </p:nvSpPr>
        <p:spPr>
          <a:xfrm>
            <a:off x="8405707" y="1761066"/>
            <a:ext cx="3967520" cy="317316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iotola con frittelle al salmone, insalata e hummus "/>
          <p:cNvSpPr/>
          <p:nvPr>
            <p:ph type="pic" sz="half" idx="22"/>
          </p:nvPr>
        </p:nvSpPr>
        <p:spPr>
          <a:xfrm>
            <a:off x="7200053" y="3340946"/>
            <a:ext cx="5567681" cy="648009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Pappardelle con burro al prezzemolo, nocciole tostate e scaglie di parmigiano"/>
          <p:cNvSpPr/>
          <p:nvPr>
            <p:ph type="pic" idx="23"/>
          </p:nvPr>
        </p:nvSpPr>
        <p:spPr>
          <a:xfrm>
            <a:off x="-74508" y="1483359"/>
            <a:ext cx="8859522" cy="66446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iotola di insalata con riso saltato, uova sode e bacchette"/>
          <p:cNvSpPr/>
          <p:nvPr>
            <p:ph type="pic" idx="21"/>
          </p:nvPr>
        </p:nvSpPr>
        <p:spPr>
          <a:xfrm>
            <a:off x="-711201" y="-1727201"/>
            <a:ext cx="14427201" cy="1154176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presentazione"/>
          <p:cNvSpPr txBox="1"/>
          <p:nvPr>
            <p:ph type="title" hasCustomPrompt="1"/>
          </p:nvPr>
        </p:nvSpPr>
        <p:spPr>
          <a:xfrm>
            <a:off x="643464" y="2592528"/>
            <a:ext cx="11717870" cy="24790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b">
            <a:normAutofit fontScale="100000" lnSpcReduction="0"/>
          </a:bodyPr>
          <a:lstStyle/>
          <a:p>
            <a:pPr/>
            <a:r>
              <a:t>Titolo presentazione</a:t>
            </a:r>
          </a:p>
        </p:txBody>
      </p:sp>
      <p:sp>
        <p:nvSpPr>
          <p:cNvPr id="3" name="Corpo livello uno…"/>
          <p:cNvSpPr txBox="1"/>
          <p:nvPr>
            <p:ph type="body" idx="1" hasCustomPrompt="1"/>
          </p:nvPr>
        </p:nvSpPr>
        <p:spPr>
          <a:xfrm>
            <a:off x="640715" y="5071568"/>
            <a:ext cx="11717868" cy="1016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/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6380889" y="8167799"/>
            <a:ext cx="236357" cy="227721"/>
          </a:xfrm>
          <a:prstGeom prst="rect">
            <a:avLst/>
          </a:prstGeom>
          <a:ln w="3175">
            <a:miter lim="400000"/>
          </a:ln>
        </p:spPr>
        <p:txBody>
          <a:bodyPr wrap="none" lIns="27093" tIns="27093" rIns="27093" bIns="27093" anchor="b">
            <a:spAutoFit/>
          </a:bodyPr>
          <a:lstStyle>
            <a:lvl1pPr algn="ctr" defTabSz="415431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salvatorederoma.it" TargetMode="Externa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salvatorederoma.it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salvatorederoma.it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salvatorederoma.it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salvatorederoma.it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salvatorederoma.it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salvatorederoma.it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salvatorederoma.it" TargetMode="External"/><Relationship Id="rId4" Type="http://schemas.openxmlformats.org/officeDocument/2006/relationships/hyperlink" Target="https://www.facebook.com/totore.deroma/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www.instagram.com/salvatore_de_roma?igsh=YWVndm5ibGFsbnQy&amp;utm_source=qr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linkedin.com/in/salvatore-de-roma-755728222" TargetMode="External"/><Relationship Id="rId9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WEB DEVELOPER"/>
          <p:cNvSpPr txBox="1"/>
          <p:nvPr>
            <p:ph type="ctrTitle"/>
          </p:nvPr>
        </p:nvSpPr>
        <p:spPr>
          <a:xfrm>
            <a:off x="1261349" y="1268791"/>
            <a:ext cx="5086415" cy="6877298"/>
          </a:xfrm>
          <a:prstGeom prst="rect">
            <a:avLst/>
          </a:prstGeom>
        </p:spPr>
        <p:txBody>
          <a:bodyPr anchor="ctr"/>
          <a:lstStyle>
            <a:lvl1pPr>
              <a:defRPr spc="-239" sz="12000"/>
            </a:lvl1pPr>
          </a:lstStyle>
          <a:p>
            <a:pPr/>
            <a:r>
              <a:t>WEB DEVELOPER</a:t>
            </a:r>
          </a:p>
        </p:txBody>
      </p:sp>
      <p:sp>
        <p:nvSpPr>
          <p:cNvPr id="172" name="salvatorederoma.it"/>
          <p:cNvSpPr txBox="1"/>
          <p:nvPr>
            <p:ph type="subTitle" sz="quarter" idx="1"/>
          </p:nvPr>
        </p:nvSpPr>
        <p:spPr>
          <a:xfrm>
            <a:off x="1259857" y="1268203"/>
            <a:ext cx="2278961" cy="407636"/>
          </a:xfrm>
          <a:prstGeom prst="rect">
            <a:avLst/>
          </a:prstGeom>
        </p:spPr>
        <p:txBody>
          <a:bodyPr/>
          <a:lstStyle>
            <a:lvl1pPr>
              <a:defRPr b="0" sz="1800">
                <a:solidFill>
                  <a:srgbClr val="06AED5"/>
                </a:solidFill>
                <a:hlinkClick r:id="rId2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2" invalidUrl="" action="" tgtFrame="" tooltip="" history="1" highlightClick="0" endSnd="0"/>
              </a:rPr>
              <a:t>salvatorederoma.it</a:t>
            </a:r>
          </a:p>
        </p:txBody>
      </p:sp>
      <p:pic>
        <p:nvPicPr>
          <p:cNvPr id="173" name="logo_deroma_salvatore.svg" descr="logo_deroma_salvatore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174" name="Turning concept into interactive websites"/>
          <p:cNvSpPr txBox="1"/>
          <p:nvPr/>
        </p:nvSpPr>
        <p:spPr>
          <a:xfrm>
            <a:off x="6635667" y="4695273"/>
            <a:ext cx="5092182" cy="4076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/>
          <a:p>
            <a:pPr defTabSz="446136">
              <a:lnSpc>
                <a:spcPct val="100000"/>
              </a:lnSpc>
              <a:spcBef>
                <a:spcPts val="0"/>
              </a:spcBef>
              <a:defRPr sz="2128"/>
            </a:pPr>
            <a:r>
              <a:t>Turning </a:t>
            </a:r>
            <a:r>
              <a:rPr b="1">
                <a:solidFill>
                  <a:srgbClr val="06AED5"/>
                </a:solidFill>
              </a:rPr>
              <a:t>concept</a:t>
            </a:r>
            <a:r>
              <a:t> into interactive websites</a:t>
            </a:r>
          </a:p>
        </p:txBody>
      </p:sp>
      <p:sp>
        <p:nvSpPr>
          <p:cNvPr id="175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6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01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logo_deroma_salvatore.svg" descr="logo_deroma_salvator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180" name="Indice"/>
          <p:cNvSpPr txBox="1"/>
          <p:nvPr/>
        </p:nvSpPr>
        <p:spPr>
          <a:xfrm>
            <a:off x="1238927" y="1276142"/>
            <a:ext cx="5092181" cy="6891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Indice</a:t>
            </a:r>
          </a:p>
        </p:txBody>
      </p:sp>
      <p:sp>
        <p:nvSpPr>
          <p:cNvPr id="181" name="3. PRESENTAZIONE…"/>
          <p:cNvSpPr txBox="1"/>
          <p:nvPr/>
        </p:nvSpPr>
        <p:spPr>
          <a:xfrm>
            <a:off x="6633128" y="1277600"/>
            <a:ext cx="5092181" cy="688888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/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r>
              <a:t>3. PRESENTAZIONE</a:t>
            </a:r>
          </a:p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r>
              <a:t>4. IL CONTESTO DIGITALE</a:t>
            </a:r>
          </a:p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r>
              <a:t>5. OBIETTIVO DEL SITO</a:t>
            </a:r>
          </a:p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r>
              <a:t>6.DESIGN &amp; USER EXPERIENCES</a:t>
            </a:r>
          </a:p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r>
              <a:t>7. PERCHÈ UN SITO WEB È IMPORTANTE</a:t>
            </a:r>
          </a:p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r>
              <a:t>8. CONCLUSIONI</a:t>
            </a:r>
          </a:p>
        </p:txBody>
      </p:sp>
      <p:sp>
        <p:nvSpPr>
          <p:cNvPr id="182" name="salvatorederoma.it"/>
          <p:cNvSpPr txBox="1"/>
          <p:nvPr/>
        </p:nvSpPr>
        <p:spPr>
          <a:xfrm>
            <a:off x="1257524" y="1271507"/>
            <a:ext cx="1955352" cy="327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6AED5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salvatorederoma.it</a:t>
            </a:r>
          </a:p>
        </p:txBody>
      </p:sp>
      <p:sp>
        <p:nvSpPr>
          <p:cNvPr id="183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4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5" name="02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logo_deroma_salvatore.svg" descr="logo_deroma_salvator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188" name="Presentazione progetto"/>
          <p:cNvSpPr txBox="1"/>
          <p:nvPr/>
        </p:nvSpPr>
        <p:spPr>
          <a:xfrm>
            <a:off x="1238927" y="1276142"/>
            <a:ext cx="5092181" cy="6891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Presentazione progetto</a:t>
            </a:r>
          </a:p>
        </p:txBody>
      </p:sp>
      <p:sp>
        <p:nvSpPr>
          <p:cNvPr id="189" name="Questo sito nasce con l’obiettivo di presentare in modo chiaro e professionale il mio lavoro come Web Developer.…"/>
          <p:cNvSpPr txBox="1"/>
          <p:nvPr/>
        </p:nvSpPr>
        <p:spPr>
          <a:xfrm>
            <a:off x="6633128" y="1277600"/>
            <a:ext cx="5092181" cy="688888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/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r>
              <a:t>Questo sito nasce con l’obiettivo di presentare in modo chiaro e professionale il mio lavoro come Web Developer.</a:t>
            </a:r>
          </a:p>
          <a:p>
            <a:pPr algn="just" defTabSz="325120">
              <a:lnSpc>
                <a:spcPct val="120000"/>
              </a:lnSpc>
              <a:spcBef>
                <a:spcPts val="800"/>
              </a:spcBef>
              <a:defRPr sz="2000"/>
            </a:pPr>
            <a:br/>
            <a:r>
              <a:t>La piattaforma è progettata per mostrare competenze, progetti e approccio al lavoro, offrendo una panoramica completa delle soluzioni digitali che posso sviluppare per aziende e professionisti</a:t>
            </a:r>
          </a:p>
        </p:txBody>
      </p:sp>
      <p:sp>
        <p:nvSpPr>
          <p:cNvPr id="190" name="salvatorederoma.it"/>
          <p:cNvSpPr txBox="1"/>
          <p:nvPr/>
        </p:nvSpPr>
        <p:spPr>
          <a:xfrm>
            <a:off x="1257524" y="1271507"/>
            <a:ext cx="1955352" cy="327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6AED5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salvatorederoma.it</a:t>
            </a:r>
          </a:p>
        </p:txBody>
      </p:sp>
      <p:sp>
        <p:nvSpPr>
          <p:cNvPr id="191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2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3" name="03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logo_deroma_salvatore.svg" descr="logo_deroma_salvator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196" name="Il contesto digitale"/>
          <p:cNvSpPr txBox="1"/>
          <p:nvPr/>
        </p:nvSpPr>
        <p:spPr>
          <a:xfrm>
            <a:off x="1238927" y="1276142"/>
            <a:ext cx="5092181" cy="6891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Il contesto digitale</a:t>
            </a:r>
          </a:p>
        </p:txBody>
      </p:sp>
      <p:sp>
        <p:nvSpPr>
          <p:cNvPr id="197" name="Oggi il sito web rappresenta uno degli strumenti più importanti per la comunicazione e la crescita di un’attività. È spesso il primo punto di contatto tra un’azienda e i suoi potenziali clienti. Una presenza digitale chiara, professionale e ben struttura"/>
          <p:cNvSpPr txBox="1"/>
          <p:nvPr/>
        </p:nvSpPr>
        <p:spPr>
          <a:xfrm>
            <a:off x="6633128" y="1277600"/>
            <a:ext cx="5092181" cy="688888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 defTabSz="325120">
              <a:lnSpc>
                <a:spcPct val="120000"/>
              </a:lnSpc>
              <a:spcBef>
                <a:spcPts val="800"/>
              </a:spcBef>
              <a:defRPr sz="2000"/>
            </a:lvl1pPr>
          </a:lstStyle>
          <a:p>
            <a:pPr/>
            <a:r>
              <a:t>Oggi il sito web rappresenta uno degli strumenti più importanti per la comunicazione e la crescita di un’attività. È spesso il primo punto di contatto tra un’azienda e i suoi potenziali clienti. Una presenza digitale chiara, professionale e ben strutturata permette di trasmettere credibilità, rafforzare l’immagine del brand e rendere più efficace la comunicazione dei propri servizi.</a:t>
            </a:r>
          </a:p>
        </p:txBody>
      </p:sp>
      <p:sp>
        <p:nvSpPr>
          <p:cNvPr id="198" name="salvatorederoma.it"/>
          <p:cNvSpPr txBox="1"/>
          <p:nvPr/>
        </p:nvSpPr>
        <p:spPr>
          <a:xfrm>
            <a:off x="1257524" y="1271507"/>
            <a:ext cx="1955352" cy="327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6AED5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salvatorederoma.it</a:t>
            </a:r>
          </a:p>
        </p:txBody>
      </p:sp>
      <p:sp>
        <p:nvSpPr>
          <p:cNvPr id="199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0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1" name="04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logo_deroma_salvatore.svg" descr="logo_deroma_salvator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204" name="Obiettivo sito web"/>
          <p:cNvSpPr txBox="1"/>
          <p:nvPr/>
        </p:nvSpPr>
        <p:spPr>
          <a:xfrm>
            <a:off x="1238927" y="1276142"/>
            <a:ext cx="5092181" cy="6891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Obiettivo sito web</a:t>
            </a:r>
          </a:p>
        </p:txBody>
      </p:sp>
      <p:sp>
        <p:nvSpPr>
          <p:cNvPr id="205" name="Questo sito web nasce con l’obiettivo di sviluppare siti web progettati per essere chiari, professionali e funzionali.…"/>
          <p:cNvSpPr txBox="1"/>
          <p:nvPr/>
        </p:nvSpPr>
        <p:spPr>
          <a:xfrm>
            <a:off x="6633128" y="1277600"/>
            <a:ext cx="5092181" cy="688888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/>
          <a:p>
            <a:pPr defTabSz="457200">
              <a:lnSpc>
                <a:spcPct val="120000"/>
              </a:lnSpc>
              <a:spcBef>
                <a:spcPts val="1200"/>
              </a:spcBef>
              <a:defRPr sz="2000"/>
            </a:pPr>
            <a:r>
              <a:t>Questo sito web nasce con l’obiettivo di sviluppare siti web progettati per essere chiari, professionali e funzionali.</a:t>
            </a:r>
          </a:p>
          <a:p>
            <a:pPr defTabSz="457200">
              <a:lnSpc>
                <a:spcPct val="120000"/>
              </a:lnSpc>
              <a:spcBef>
                <a:spcPts val="1200"/>
              </a:spcBef>
              <a:defRPr sz="2000"/>
            </a:pPr>
            <a:r>
              <a:t>Ogni soluzione è pensata per valorizzare l’identità dell’azienda, migliorare la comunicazione online e offrire agli utenti un’esperienza semplice e immediata.</a:t>
            </a:r>
          </a:p>
        </p:txBody>
      </p:sp>
      <p:sp>
        <p:nvSpPr>
          <p:cNvPr id="206" name="salvatorederoma.it"/>
          <p:cNvSpPr txBox="1"/>
          <p:nvPr/>
        </p:nvSpPr>
        <p:spPr>
          <a:xfrm>
            <a:off x="1257524" y="1271507"/>
            <a:ext cx="1955352" cy="327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6AED5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salvatorederoma.it</a:t>
            </a:r>
          </a:p>
        </p:txBody>
      </p:sp>
      <p:sp>
        <p:nvSpPr>
          <p:cNvPr id="207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8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9" name="05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logo_deroma_salvatore.svg" descr="logo_deroma_salvator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212" name="Design &amp; User Experience"/>
          <p:cNvSpPr txBox="1"/>
          <p:nvPr/>
        </p:nvSpPr>
        <p:spPr>
          <a:xfrm>
            <a:off x="1238927" y="1276142"/>
            <a:ext cx="5092181" cy="6891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Design &amp; User Experience</a:t>
            </a:r>
          </a:p>
        </p:txBody>
      </p:sp>
      <p:sp>
        <p:nvSpPr>
          <p:cNvPr id="213" name="Il design del sito è stato progettato con un approccio minimal ed essenziale, pensato per valorizzare i contenuti e garantire una comunicazione chiara.…"/>
          <p:cNvSpPr txBox="1"/>
          <p:nvPr/>
        </p:nvSpPr>
        <p:spPr>
          <a:xfrm>
            <a:off x="6633128" y="1277600"/>
            <a:ext cx="5092181" cy="688888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/>
          <a:p>
            <a:pPr defTabSz="457200">
              <a:lnSpc>
                <a:spcPct val="120000"/>
              </a:lnSpc>
              <a:spcBef>
                <a:spcPts val="1200"/>
              </a:spcBef>
              <a:defRPr sz="2000"/>
            </a:pPr>
            <a:r>
              <a:t>Il design del sito è stato progettato con un approccio minimal ed essenziale, pensato per valorizzare i contenuti e garantire una comunicazione chiara.</a:t>
            </a:r>
          </a:p>
          <a:p>
            <a:pPr defTabSz="457200">
              <a:lnSpc>
                <a:spcPct val="120000"/>
              </a:lnSpc>
              <a:spcBef>
                <a:spcPts val="1200"/>
              </a:spcBef>
              <a:defRPr sz="2000"/>
            </a:pPr>
            <a:r>
              <a:t>La struttura visiva è pulita e ordinata, con un uso equilibrato degli spazi, della tipografia e dei 2 colori scelti. Questo stile consente di guidare l’utente nella navigazione in modo naturale, mantenendo un’immagine professionale e coerente con l’obiettivo di offrire soluzioni digitali moderne ed efficaci.</a:t>
            </a:r>
          </a:p>
        </p:txBody>
      </p:sp>
      <p:sp>
        <p:nvSpPr>
          <p:cNvPr id="214" name="salvatorederoma.it"/>
          <p:cNvSpPr txBox="1"/>
          <p:nvPr/>
        </p:nvSpPr>
        <p:spPr>
          <a:xfrm>
            <a:off x="1257524" y="1271507"/>
            <a:ext cx="1955352" cy="327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6AED5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salvatorederoma.it</a:t>
            </a:r>
          </a:p>
        </p:txBody>
      </p:sp>
      <p:sp>
        <p:nvSpPr>
          <p:cNvPr id="215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6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06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logo_deroma_salvatore.svg" descr="logo_deroma_salvator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220" name="Perché un sito web è importante?"/>
          <p:cNvSpPr txBox="1"/>
          <p:nvPr/>
        </p:nvSpPr>
        <p:spPr>
          <a:xfrm>
            <a:off x="1238927" y="1276142"/>
            <a:ext cx="5092181" cy="6891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Perché un sito web è importante?</a:t>
            </a:r>
          </a:p>
        </p:txBody>
      </p:sp>
      <p:sp>
        <p:nvSpPr>
          <p:cNvPr id="221" name="Un sito web rappresenta oggi uno degli strumenti più importanti per la presenza digitale di un’azienda o di un professionista. Non è soltanto una vetrina online, ma uno spazio in cui comunicare identità, valori e servizi in modo chiaro e professionale.…"/>
          <p:cNvSpPr txBox="1"/>
          <p:nvPr/>
        </p:nvSpPr>
        <p:spPr>
          <a:xfrm>
            <a:off x="6633128" y="1277600"/>
            <a:ext cx="5092181" cy="688888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/>
          <a:p>
            <a:pPr defTabSz="457200">
              <a:lnSpc>
                <a:spcPct val="120000"/>
              </a:lnSpc>
              <a:spcBef>
                <a:spcPts val="1200"/>
              </a:spcBef>
              <a:defRPr sz="2000"/>
            </a:pPr>
            <a:r>
              <a:t>Un sito web rappresenta oggi uno degli strumenti più importanti per la presenza digitale di un’azienda o di un professionista.</a:t>
            </a:r>
            <a:br/>
            <a:r>
              <a:t>Non è soltanto una vetrina online, ma uno spazio in cui comunicare identità, valori e servizi in modo chiaro e professionale.</a:t>
            </a:r>
          </a:p>
          <a:p>
            <a:pPr defTabSz="457200">
              <a:lnSpc>
                <a:spcPct val="120000"/>
              </a:lnSpc>
              <a:spcBef>
                <a:spcPts val="1200"/>
              </a:spcBef>
              <a:defRPr sz="2000"/>
            </a:pPr>
            <a:r>
              <a:t>Un sito ben progettato permette di aumentare la credibilità, migliorare la visibilità online e facilitare il contatto con potenziali clienti.</a:t>
            </a:r>
            <a:br/>
            <a:r>
              <a:t>In un contesto sempre più digitale, avere una piattaforma strutturata e accessibile significa offrire al pubblico un punto di riferimento affidabile e sempre disponibile.</a:t>
            </a:r>
          </a:p>
          <a:p>
            <a:pPr defTabSz="457200">
              <a:lnSpc>
                <a:spcPct val="120000"/>
              </a:lnSpc>
              <a:spcBef>
                <a:spcPts val="1200"/>
              </a:spcBef>
              <a:defRPr sz="2000"/>
            </a:pPr>
            <a:r>
              <a:t>Un buon sito web diventa quindi uno strumento strategico per costruire relazioni, rafforzare la propria immagine e creare nuove opportunità di crescita.</a:t>
            </a:r>
          </a:p>
        </p:txBody>
      </p:sp>
      <p:sp>
        <p:nvSpPr>
          <p:cNvPr id="222" name="salvatorederoma.it"/>
          <p:cNvSpPr txBox="1"/>
          <p:nvPr/>
        </p:nvSpPr>
        <p:spPr>
          <a:xfrm>
            <a:off x="1257524" y="1271507"/>
            <a:ext cx="1955352" cy="327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6AED5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salvatorederoma.it</a:t>
            </a:r>
          </a:p>
        </p:txBody>
      </p:sp>
      <p:sp>
        <p:nvSpPr>
          <p:cNvPr id="223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4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5" name="07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logo_deroma_salvatore.svg" descr="logo_deroma_salvator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2156" y="8170841"/>
            <a:ext cx="1417528" cy="318945"/>
          </a:xfrm>
          <a:prstGeom prst="rect">
            <a:avLst/>
          </a:prstGeom>
          <a:ln w="3175">
            <a:miter lim="400000"/>
          </a:ln>
        </p:spPr>
      </p:pic>
      <p:sp>
        <p:nvSpPr>
          <p:cNvPr id="228" name="Conclusione"/>
          <p:cNvSpPr txBox="1"/>
          <p:nvPr/>
        </p:nvSpPr>
        <p:spPr>
          <a:xfrm>
            <a:off x="1238927" y="1276142"/>
            <a:ext cx="5092181" cy="6891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Conclusione</a:t>
            </a:r>
          </a:p>
        </p:txBody>
      </p:sp>
      <p:sp>
        <p:nvSpPr>
          <p:cNvPr id="229" name="Grazie per l’attenzione."/>
          <p:cNvSpPr txBox="1"/>
          <p:nvPr/>
        </p:nvSpPr>
        <p:spPr>
          <a:xfrm>
            <a:off x="6633128" y="1277600"/>
            <a:ext cx="5092181" cy="688888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ctr">
            <a:normAutofit fontScale="100000" lnSpcReduction="0"/>
          </a:bodyPr>
          <a:lstStyle>
            <a:lvl1pPr defTabSz="457200">
              <a:lnSpc>
                <a:spcPct val="120000"/>
              </a:lnSpc>
              <a:spcBef>
                <a:spcPts val="1200"/>
              </a:spcBef>
              <a:defRPr i="1" sz="2000"/>
            </a:lvl1pPr>
          </a:lstStyle>
          <a:p>
            <a:pPr/>
            <a:r>
              <a:t>Grazie per l’attenzione.</a:t>
            </a:r>
          </a:p>
        </p:txBody>
      </p:sp>
      <p:sp>
        <p:nvSpPr>
          <p:cNvPr id="230" name="salvatorederoma.it"/>
          <p:cNvSpPr txBox="1"/>
          <p:nvPr/>
        </p:nvSpPr>
        <p:spPr>
          <a:xfrm>
            <a:off x="1257524" y="1271507"/>
            <a:ext cx="1955352" cy="327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6AED5"/>
                </a:solidFill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salvatorederoma.it</a:t>
            </a:r>
          </a:p>
        </p:txBody>
      </p:sp>
      <p:sp>
        <p:nvSpPr>
          <p:cNvPr id="231" name="Quadrato"/>
          <p:cNvSpPr/>
          <p:nvPr/>
        </p:nvSpPr>
        <p:spPr>
          <a:xfrm>
            <a:off x="12306300" y="9403762"/>
            <a:ext cx="349838" cy="349838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2" name="Quadrato"/>
          <p:cNvSpPr/>
          <p:nvPr/>
        </p:nvSpPr>
        <p:spPr>
          <a:xfrm>
            <a:off x="12655550" y="9403762"/>
            <a:ext cx="349838" cy="349838"/>
          </a:xfrm>
          <a:prstGeom prst="rect">
            <a:avLst/>
          </a:prstGeom>
          <a:solidFill>
            <a:srgbClr val="06AED5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algn="ctr" defTabSz="587022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08"/>
          <p:cNvSpPr txBox="1"/>
          <p:nvPr/>
        </p:nvSpPr>
        <p:spPr>
          <a:xfrm>
            <a:off x="12415117" y="9384190"/>
            <a:ext cx="550809" cy="3889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 algn="ctr" defTabSz="587022">
              <a:lnSpc>
                <a:spcPct val="100000"/>
              </a:lnSpc>
              <a:spcBef>
                <a:spcPts val="0"/>
              </a:spcBef>
              <a:defRPr spc="682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34" name="Let’s build something meaningful"/>
          <p:cNvSpPr txBox="1"/>
          <p:nvPr/>
        </p:nvSpPr>
        <p:spPr>
          <a:xfrm>
            <a:off x="6635667" y="4108533"/>
            <a:ext cx="5092182" cy="4076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/>
          <a:p>
            <a:pPr defTabSz="481358">
              <a:lnSpc>
                <a:spcPct val="100000"/>
              </a:lnSpc>
              <a:spcBef>
                <a:spcPts val="0"/>
              </a:spcBef>
              <a:defRPr sz="2296"/>
            </a:pPr>
            <a:r>
              <a:t>Let’s build something </a:t>
            </a:r>
            <a:r>
              <a:rPr b="1">
                <a:solidFill>
                  <a:srgbClr val="06AED5"/>
                </a:solidFill>
              </a:rPr>
              <a:t>meaningful</a:t>
            </a:r>
          </a:p>
        </p:txBody>
      </p:sp>
      <p:pic>
        <p:nvPicPr>
          <p:cNvPr id="235" name="facebook.png" descr="facebook.png">
            <a:hlinkClick r:id="rId4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25796" y="8162599"/>
            <a:ext cx="327186" cy="327187"/>
          </a:xfrm>
          <a:prstGeom prst="rect">
            <a:avLst/>
          </a:prstGeom>
          <a:ln w="3175">
            <a:miter lim="400000"/>
          </a:ln>
        </p:spPr>
      </p:pic>
      <p:pic>
        <p:nvPicPr>
          <p:cNvPr id="236" name="instagram-2.png" descr="instagram-2.png">
            <a:hlinkClick r:id="rId6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597954" y="8152378"/>
            <a:ext cx="355870" cy="355871"/>
          </a:xfrm>
          <a:prstGeom prst="rect">
            <a:avLst/>
          </a:prstGeom>
          <a:ln w="3175">
            <a:miter lim="400000"/>
          </a:ln>
        </p:spPr>
      </p:pic>
      <p:pic>
        <p:nvPicPr>
          <p:cNvPr id="237" name="linkedin-2.png" descr="linkedin-2.png">
            <a:hlinkClick r:id="rId8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637019" y="8158411"/>
            <a:ext cx="343806" cy="343805"/>
          </a:xfrm>
          <a:prstGeom prst="rect">
            <a:avLst/>
          </a:prstGeom>
          <a:ln w="3175">
            <a:miter lim="400000"/>
          </a:ln>
        </p:spPr>
      </p:pic>
      <p:sp>
        <p:nvSpPr>
          <p:cNvPr id="238" name="+39 340 83 12 740"/>
          <p:cNvSpPr txBox="1"/>
          <p:nvPr/>
        </p:nvSpPr>
        <p:spPr>
          <a:xfrm>
            <a:off x="8188371" y="8191764"/>
            <a:ext cx="1770516" cy="2770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7093" tIns="27093" rIns="27093" bIns="27093" anchor="ctr">
            <a:spAutoFit/>
          </a:bodyPr>
          <a:lstStyle>
            <a:lvl1pPr>
              <a:defRPr sz="1600"/>
            </a:lvl1pPr>
          </a:lstStyle>
          <a:p>
            <a:pPr/>
            <a:r>
              <a:t>+39 340 83 12 740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4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